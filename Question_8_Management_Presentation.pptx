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Growth is real; profit grows too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1378151</c:v>
                </c:pt>
                <c:pt idx="1">
                  <c:v>1681499</c:v>
                </c:pt>
                <c:pt idx="2">
                  <c:v>2107021</c:v>
                </c:pt>
                <c:pt idx="3">
                  <c:v>2668457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A8-4238-A036-5697B5E3A1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248940.81154</c:v>
                </c:pt>
                <c:pt idx="1">
                  <c:v>307415.27909999999</c:v>
                </c:pt>
                <c:pt idx="2">
                  <c:v>408512.76017999998</c:v>
                </c:pt>
                <c:pt idx="3">
                  <c:v>504165.97045999998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A8-4238-A036-5697B5E3A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Margin by discount band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1–10%</c:v>
                </c:pt>
                <c:pt idx="2">
                  <c:v>11–20%</c:v>
                </c:pt>
                <c:pt idx="3">
                  <c:v>21–30%</c:v>
                </c:pt>
                <c:pt idx="4">
                  <c:v>31–40%</c:v>
                </c:pt>
                <c:pt idx="5">
                  <c:v>41–50%</c:v>
                </c:pt>
                <c:pt idx="6">
                  <c:v>&gt;50%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25.069685342504368</c:v>
                </c:pt>
                <c:pt idx="1">
                  <c:v>17.049311651821483</c:v>
                </c:pt>
                <c:pt idx="2">
                  <c:v>9.0486566435996725</c:v>
                </c:pt>
                <c:pt idx="3">
                  <c:v>-5.7681594171880146</c:v>
                </c:pt>
                <c:pt idx="4">
                  <c:v>-25.213956407958559</c:v>
                </c:pt>
                <c:pt idx="5">
                  <c:v>-46.738356112642329</c:v>
                </c:pt>
                <c:pt idx="6">
                  <c:v>-111.78030864140693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23-4151-A634-08AE07A7E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50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2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35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1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4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3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1952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237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043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3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950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04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98900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264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501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112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0009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3370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172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3484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542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737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9199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197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27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9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5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283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Global Superstore-style transaction data | 2011–2014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331720" cy="1143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$7.8M</a:t>
            </a:r>
          </a:p>
          <a:p>
            <a:pPr algn="ctr">
              <a:defRPr sz="1000">
                <a:latin typeface="Aptos"/>
              </a:defRPr>
            </a:pPr>
            <a:r>
              <a:t>Sales with recorded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25880"/>
            <a:ext cx="2331720" cy="1143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79" y="1435607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$1.47M</a:t>
            </a:r>
          </a:p>
          <a:p>
            <a:pPr algn="ctr">
              <a:defRPr sz="1000">
                <a:latin typeface="Aptos"/>
              </a:defRPr>
            </a:pPr>
            <a:r>
              <a:t>Total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325880"/>
            <a:ext cx="2331720" cy="1143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80" y="1435607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18.7%</a:t>
            </a:r>
          </a:p>
          <a:p>
            <a:pPr algn="ctr">
              <a:defRPr sz="1000">
                <a:latin typeface="Aptos"/>
              </a:defRPr>
            </a:pPr>
            <a:r>
              <a:t>Profit / recorded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325880"/>
            <a:ext cx="2331720" cy="1143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435607"/>
            <a:ext cx="2057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24.5%</a:t>
            </a:r>
          </a:p>
          <a:p>
            <a:pPr algn="ctr">
              <a:defRPr sz="1000">
                <a:latin typeface="Aptos"/>
              </a:defRPr>
            </a:pPr>
            <a:r>
              <a:t>Rows with negative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Management question: sales are growing, but are discounts creating unprofitable revenue?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The analysis tests how discounting, product mix and market exposure affect profitability.</a:t>
            </a:r>
          </a:p>
          <a:p>
            <a:pPr>
              <a:spcAft>
                <a:spcPts val="900"/>
              </a:spcAft>
              <a:defRPr sz="2000" b="0">
                <a:latin typeface="Aptos"/>
              </a:defRPr>
            </a:pPr>
            <a:r>
              <a:t>The goal is not to reduce sales indiscriminately—it is to protect profitable growth.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A management-focused view of profitability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latin typeface="Aptos"/>
              </a:defRPr>
            </a:pPr>
            <a:r>
              <a:t>Source: 51,290 transaction records covering orders, products, customers, markets, discounts, sales and profit.</a:t>
            </a:r>
          </a:p>
          <a:p>
            <a:pPr>
              <a:spcAft>
                <a:spcPts val="900"/>
              </a:spcAft>
              <a:defRPr sz="1700" b="0">
                <a:latin typeface="Aptos"/>
              </a:defRPr>
            </a:pPr>
            <a:r>
              <a:t>Analyzed sales, profit and margin by year, discount band, category, sub-category and market.</a:t>
            </a:r>
          </a:p>
          <a:p>
            <a:pPr>
              <a:spcAft>
                <a:spcPts val="900"/>
              </a:spcAft>
              <a:defRPr sz="1700" b="0">
                <a:latin typeface="Aptos"/>
              </a:defRPr>
            </a:pPr>
            <a:r>
              <a:t>Compared loss-making transactions with profitable transactions to identify where value is leaking.</a:t>
            </a:r>
          </a:p>
          <a:p>
            <a:pPr>
              <a:spcAft>
                <a:spcPts val="900"/>
              </a:spcAft>
              <a:defRPr sz="1700" b="0">
                <a:latin typeface="Aptos"/>
              </a:defRPr>
            </a:pPr>
            <a:r>
              <a:t>Important data note: 2,630 rows have missing Sales values; profit is retained, so sales-based ratios use only rows with recorded Sales.</a:t>
            </a:r>
          </a:p>
        </p:txBody>
      </p:sp>
      <p:sp>
        <p:nvSpPr>
          <p:cNvPr id="5" name="Oval 4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1536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481328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Clean &amp; validate</a:t>
            </a:r>
          </a:p>
        </p:txBody>
      </p:sp>
      <p:sp>
        <p:nvSpPr>
          <p:cNvPr id="8" name="Oval 7"/>
          <p:cNvSpPr/>
          <p:nvPr/>
        </p:nvSpPr>
        <p:spPr>
          <a:xfrm>
            <a:off x="8732520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0" y="153619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481328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Group by driver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3044951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990088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Compare profit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30175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20" y="3044951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990088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Translate to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Three messages management should act 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5577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50876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Sales rise from $1.4M to $2.7M on recorded-sales rows.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Discounts above 20% generate $1.40M of sales (17.8% of recorded sales) but lose $642K.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Technology is the strongest category by profit; Furniture has the weakest category margin.</a:t>
            </a:r>
          </a:p>
          <a:p>
            <a:pPr>
              <a:spcAft>
                <a:spcPts val="900"/>
              </a:spcAft>
              <a:defRPr sz="1600" b="0">
                <a:latin typeface="Aptos"/>
              </a:defRPr>
            </a:pPr>
            <a:r>
              <a:t>The biggest opportunity is disciplined discounting—not simply selling more.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Deep-Dive Insight: Discounting Is the Main Profit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Profitability changes sharply once discounts move beyond 20%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37160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37960" y="1417320"/>
            <a:ext cx="2148840" cy="10972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527048"/>
            <a:ext cx="1874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-5.8%</a:t>
            </a:r>
          </a:p>
          <a:p>
            <a:pPr algn="ctr">
              <a:defRPr sz="1000">
                <a:latin typeface="Aptos"/>
              </a:defRPr>
            </a:pPr>
            <a:r>
              <a:t>Margin at 21–30% discount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417320"/>
            <a:ext cx="2148840" cy="10972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0" y="1527048"/>
            <a:ext cx="1874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-25.2%</a:t>
            </a:r>
          </a:p>
          <a:p>
            <a:pPr algn="ctr">
              <a:defRPr sz="1000">
                <a:latin typeface="Aptos"/>
              </a:defRPr>
            </a:pPr>
            <a:r>
              <a:t>Margin at 31–40% discount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743200"/>
            <a:ext cx="2148840" cy="10972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852928"/>
            <a:ext cx="1874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-46.7%</a:t>
            </a:r>
          </a:p>
          <a:p>
            <a:pPr algn="ctr">
              <a:defRPr sz="1000">
                <a:latin typeface="Aptos"/>
              </a:defRPr>
            </a:pPr>
            <a:r>
              <a:t>Margin at 41–50% discount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743200"/>
            <a:ext cx="2148840" cy="10972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2852928"/>
            <a:ext cx="1874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-111.8%</a:t>
            </a:r>
          </a:p>
          <a:p>
            <a:pPr algn="ctr">
              <a:defRPr sz="1000">
                <a:latin typeface="Aptos"/>
              </a:defRPr>
            </a:pPr>
            <a:r>
              <a:t>Margin above 50% discount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1605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0">
                <a:latin typeface="Aptos"/>
              </a:defRPr>
            </a:pPr>
            <a:r>
              <a:t>At 0% discount, recorded sales produce ~25% margin.</a:t>
            </a:r>
          </a:p>
          <a:p>
            <a:pPr>
              <a:spcAft>
                <a:spcPts val="900"/>
              </a:spcAft>
              <a:defRPr sz="1400" b="0">
                <a:latin typeface="Aptos"/>
              </a:defRPr>
            </a:pPr>
            <a:r>
              <a:t>At 11–20%, margin falls to ~9%.</a:t>
            </a:r>
          </a:p>
          <a:p>
            <a:pPr>
              <a:spcAft>
                <a:spcPts val="900"/>
              </a:spcAft>
              <a:defRPr sz="1400" b="0">
                <a:latin typeface="Aptos"/>
              </a:defRPr>
            </a:pPr>
            <a:r>
              <a:t>Beyond 20%, the combined band is loss-making.</a:t>
            </a:r>
          </a:p>
          <a:p>
            <a:pPr>
              <a:spcAft>
                <a:spcPts val="900"/>
              </a:spcAft>
              <a:defRPr sz="1400" b="0">
                <a:latin typeface="Aptos"/>
              </a:defRPr>
            </a:pPr>
            <a:r>
              <a:t>This pattern is consistent across all three major categories, so the issue is structural rather than isolated.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Shift from blanket discounting to margin-controlled growth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234440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52728"/>
            <a:ext cx="475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16152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Set discount guardrails</a:t>
            </a:r>
          </a:p>
          <a:p>
            <a:pPr>
              <a:spcBef>
                <a:spcPts val="300"/>
              </a:spcBef>
              <a:defRPr sz="1300"/>
            </a:pPr>
            <a:r>
              <a:t>Require approval for discounts &gt;20%; introduce a stricter exception process above 30%.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68880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475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50592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Protect high-value products</a:t>
            </a:r>
          </a:p>
          <a:p>
            <a:pPr>
              <a:spcBef>
                <a:spcPts val="300"/>
              </a:spcBef>
              <a:defRPr sz="1300"/>
            </a:pPr>
            <a:r>
              <a:t>Prioritize margin protection in Furniture and other loss-prone sub-categories.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03320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721608"/>
            <a:ext cx="475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85032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Use targeted offers</a:t>
            </a:r>
          </a:p>
          <a:p>
            <a:pPr>
              <a:spcBef>
                <a:spcPts val="300"/>
              </a:spcBef>
              <a:defRPr sz="1300"/>
            </a:pPr>
            <a:r>
              <a:t>Trade broad discounts for customer/product-specific offers where incremental demand is demonstrable.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937760"/>
            <a:ext cx="475488" cy="4754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956048"/>
            <a:ext cx="475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19472"/>
            <a:ext cx="9875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Monitor a profit dashboard</a:t>
            </a:r>
          </a:p>
          <a:p>
            <a:pPr>
              <a:spcBef>
                <a:spcPts val="300"/>
              </a:spcBef>
              <a:defRPr sz="1300"/>
            </a:pPr>
            <a:r>
              <a:t>Track sales, profit, discount rate and loss-making transaction share weekly by market and category.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A scenario, not a forecast: what better discount discipline could unlock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834640" cy="12344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2560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$642K</a:t>
            </a:r>
          </a:p>
          <a:p>
            <a:pPr algn="ctr">
              <a:defRPr sz="1000">
                <a:latin typeface="Aptos"/>
              </a:defRPr>
            </a:pPr>
            <a:r>
              <a:t>Current loss from &gt;20% discount bands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325880"/>
            <a:ext cx="2834640" cy="12344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0" y="1435607"/>
            <a:ext cx="2560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$321K</a:t>
            </a:r>
          </a:p>
          <a:p>
            <a:pPr algn="ctr">
              <a:defRPr sz="1000">
                <a:latin typeface="Aptos"/>
              </a:defRPr>
            </a:pPr>
            <a:r>
              <a:t>50% loss recovery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25880"/>
            <a:ext cx="2834640" cy="12344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1435607"/>
            <a:ext cx="25603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latin typeface="Aptos Display"/>
              </a:defRPr>
            </a:pPr>
            <a:r>
              <a:t>$642K</a:t>
            </a:r>
          </a:p>
          <a:p>
            <a:pPr algn="ctr">
              <a:defRPr sz="1000">
                <a:latin typeface="Aptos"/>
              </a:defRPr>
            </a:pPr>
            <a:r>
              <a:t>100% loss recovery ceiling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A 50% recovery of the &gt;20% discount loss would add roughly $321K to profit—about a 22% uplift versus the current total profit base.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The practical target should be profitable revenue growth, not a blanket ban on discounts.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Success measures: profit margin, profit dollars, sales retained, average discount, and share of loss-making transactions.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  <a:latin typeface="Aptos"/>
              </a:defRPr>
            </a:pPr>
            <a:r>
              <a:t>What management should validate before changing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The dataset contains 2,630 rows with missing Sales values; sales-based conclusions should be validated against the source system.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The analysis shows a strong relationship between discounting and profit, but it does not prove that discounts caused every loss.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Next: test discount elasticity—did higher discounts actually create enough additional volume to justify the margin loss?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Next: segment the discount policy by product, customer segment and market rather than applying one rule everywhere.</a:t>
            </a:r>
          </a:p>
          <a:p>
            <a:pPr>
              <a:spcAft>
                <a:spcPts val="900"/>
              </a:spcAft>
              <a:defRPr sz="1800" b="0">
                <a:latin typeface="Aptos"/>
              </a:defRPr>
            </a:pPr>
            <a:r>
              <a:t>Next: run a controlled pilot with discount caps and compare profit, sales retention and customer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chemeClr val="tx2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chemeClr val="tx2"/>
                </a:solidFill>
              </a:defRPr>
            </a:pPr>
            <a:r>
              <a:t>Source: Processed_Data.xlsx | Analysis prepared for senior/business management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</TotalTime>
  <Words>678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deshwaldeepak0911@gmail.com d</cp:lastModifiedBy>
  <cp:revision>2</cp:revision>
  <dcterms:created xsi:type="dcterms:W3CDTF">2013-01-27T09:14:16Z</dcterms:created>
  <dcterms:modified xsi:type="dcterms:W3CDTF">2026-09-11T12:55:08Z</dcterms:modified>
  <cp:category/>
</cp:coreProperties>
</file>